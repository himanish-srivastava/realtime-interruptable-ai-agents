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7" roundtripDataSignature="AMtx7mgQuomGbdS/wh2yqkB/K4YAZ70YA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48" d="100"/>
          <a:sy n="48" d="100"/>
        </p:scale>
        <p:origin x="53" y="97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customschemas.google.com/relationships/presentationmetadata" Target="metadata"/><Relationship Id="rId2" Type="http://schemas.openxmlformats.org/officeDocument/2006/relationships/slide" Target="slides/slide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7" name="Google Shape;87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" name="Google Shape;111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7" name="Google Shape;117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3" name="Google Shape;123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" name="Google Shape;129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5" name="Google Shape;135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1" name="Google Shape;141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7" name="Google Shape;147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3" name="Google Shape;153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9" name="Google Shape;159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Closing slide. Add the Google Form URL and a contact email before sharing. Edition 2 organising team for reference: Language AI - Sourabh Tiwari, Gaurav, Sanjeeth Pothireddy, Gorang Maniar; PRISM - Binny Lakra, Prakhar Chandrakar, Vishu Kumar; Kick-off and mentors - Giridhar Jakki, Deepraj Prabhakar Patkar (Language AI), Srimanu Prasad Nagaraju, Ashish Kumar (Tech Strategy).</a:t>
            </a:r>
            <a:endParaRPr/>
          </a:p>
        </p:txBody>
      </p:sp>
      <p:sp>
        <p:nvSpPr>
          <p:cNvPr id="160" name="Google Shape;160;p1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1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1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9" name="Google Shape;19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6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16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25" name="Google Shape;25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7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17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1" name="Google Shape;31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1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7" name="Google Shape;37;p18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8" name="Google Shape;38;p1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1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1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9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19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4" name="Google Shape;44;p19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5" name="Google Shape;45;p19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6" name="Google Shape;46;p19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7" name="Google Shape;47;p1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2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2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22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22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2" name="Google Shape;62;p22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3" name="Google Shape;63;p2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2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2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23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23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9" name="Google Shape;69;p23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0" name="Google Shape;70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2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2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24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6" name="Google Shape;76;p2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2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25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25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2" name="Google Shape;82;p2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2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2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1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himanish-srivastava/Realtime-Interruptable-AI-Agents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"/>
          <p:cNvSpPr/>
          <p:nvPr/>
        </p:nvSpPr>
        <p:spPr>
          <a:xfrm>
            <a:off x="777240" y="676656"/>
            <a:ext cx="2423160" cy="34747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 cap="flat" cmpd="sng">
            <a:solidFill>
              <a:srgbClr val="D9D3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91;p1"/>
          <p:cNvSpPr txBox="1"/>
          <p:nvPr/>
        </p:nvSpPr>
        <p:spPr>
          <a:xfrm>
            <a:off x="777240" y="676656"/>
            <a:ext cx="242316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D28D9"/>
              </a:buClr>
              <a:buSzPts val="1100"/>
              <a:buFont typeface="Arial"/>
              <a:buNone/>
            </a:pPr>
            <a:r>
              <a:rPr lang="en-US" sz="1100" b="1" i="0" u="none" strike="noStrike" cap="none">
                <a:solidFill>
                  <a:srgbClr val="6D28D9"/>
                </a:solidFill>
                <a:latin typeface="Arial"/>
                <a:ea typeface="Arial"/>
                <a:cs typeface="Arial"/>
                <a:sym typeface="Arial"/>
              </a:rPr>
              <a:t>SAMSUNG PRISM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1"/>
          <p:cNvSpPr txBox="1"/>
          <p:nvPr/>
        </p:nvSpPr>
        <p:spPr>
          <a:xfrm>
            <a:off x="777240" y="1207008"/>
            <a:ext cx="6126480" cy="7498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4142B"/>
              </a:buClr>
              <a:buSzPts val="5000"/>
              <a:buFont typeface="Arial"/>
              <a:buNone/>
            </a:pPr>
            <a:r>
              <a:rPr lang="en-US" sz="5000" b="1" i="0" u="none" strike="noStrike" cap="none">
                <a:solidFill>
                  <a:srgbClr val="14142B"/>
                </a:solidFill>
                <a:latin typeface="Arial"/>
                <a:ea typeface="Arial"/>
                <a:cs typeface="Arial"/>
                <a:sym typeface="Arial"/>
              </a:rPr>
              <a:t>Generative AI</a:t>
            </a:r>
            <a:endParaRPr sz="5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1"/>
          <p:cNvSpPr txBox="1"/>
          <p:nvPr/>
        </p:nvSpPr>
        <p:spPr>
          <a:xfrm>
            <a:off x="777240" y="1901952"/>
            <a:ext cx="6126480" cy="7498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D28D9"/>
              </a:buClr>
              <a:buSzPts val="5000"/>
              <a:buFont typeface="Arial"/>
              <a:buNone/>
            </a:pPr>
            <a:r>
              <a:rPr lang="en-US" sz="5000" b="1" i="0" u="none" strike="noStrike" cap="none">
                <a:solidFill>
                  <a:srgbClr val="6D28D9"/>
                </a:solidFill>
                <a:latin typeface="Arial"/>
                <a:ea typeface="Arial"/>
                <a:cs typeface="Arial"/>
                <a:sym typeface="Arial"/>
              </a:rPr>
              <a:t>Hackathon</a:t>
            </a:r>
            <a:endParaRPr sz="5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"/>
          <p:cNvSpPr txBox="1"/>
          <p:nvPr/>
        </p:nvSpPr>
        <p:spPr>
          <a:xfrm>
            <a:off x="777240" y="2724912"/>
            <a:ext cx="612648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4142B"/>
              </a:buClr>
              <a:buSzPts val="2500"/>
              <a:buFont typeface="Arial"/>
              <a:buNone/>
            </a:pPr>
            <a:r>
              <a:rPr lang="en-US" sz="2500" b="1" i="0" u="none" strike="noStrike" cap="none">
                <a:solidFill>
                  <a:srgbClr val="14142B"/>
                </a:solidFill>
                <a:latin typeface="Arial"/>
                <a:ea typeface="Arial"/>
                <a:cs typeface="Arial"/>
                <a:sym typeface="Arial"/>
              </a:rPr>
              <a:t>3rd Edition</a:t>
            </a:r>
            <a:r>
              <a:rPr lang="en-US" sz="2000" b="0" i="0" u="none" strike="noStrike" cap="none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   2026 – 27</a:t>
            </a:r>
            <a:endParaRPr sz="2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"/>
          <p:cNvSpPr txBox="1"/>
          <p:nvPr/>
        </p:nvSpPr>
        <p:spPr>
          <a:xfrm>
            <a:off x="777240" y="3310128"/>
            <a:ext cx="5852160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77800" marR="0" lvl="0" indent="-177800" algn="l" rtl="0">
              <a:spcBef>
                <a:spcPts val="0"/>
              </a:spcBef>
              <a:spcAft>
                <a:spcPts val="0"/>
              </a:spcAft>
              <a:buClr>
                <a:srgbClr val="63637E"/>
              </a:buClr>
              <a:buSzPts val="1600"/>
              <a:buFont typeface="Calibri"/>
              <a:buChar char="•"/>
            </a:pPr>
            <a:r>
              <a:rPr lang="en-US" sz="1600" b="0" i="0" u="none" strike="noStrike" cap="none" dirty="0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Theme ID - 05: Interruptible Real-Time Agents</a:t>
            </a:r>
            <a:endParaRPr dirty="0"/>
          </a:p>
          <a:p>
            <a:pPr marL="177800" marR="0" lvl="0" indent="-177800" algn="l" rtl="0">
              <a:spcBef>
                <a:spcPts val="500"/>
              </a:spcBef>
              <a:spcAft>
                <a:spcPts val="0"/>
              </a:spcAft>
              <a:buClr>
                <a:srgbClr val="63637E"/>
              </a:buClr>
              <a:buSzPts val="1600"/>
              <a:buFont typeface="Calibri"/>
              <a:buChar char="•"/>
            </a:pPr>
            <a:r>
              <a:rPr lang="en-US" sz="1600" b="0" i="0" u="none" strike="noStrike" cap="none" dirty="0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Team Name - Rambo</a:t>
            </a:r>
            <a:endParaRPr dirty="0"/>
          </a:p>
          <a:p>
            <a:pPr marL="177800" marR="0" lvl="0" indent="-177800" algn="l" rtl="0">
              <a:spcBef>
                <a:spcPts val="500"/>
              </a:spcBef>
              <a:spcAft>
                <a:spcPts val="0"/>
              </a:spcAft>
              <a:buClr>
                <a:srgbClr val="63637E"/>
              </a:buClr>
              <a:buSzPts val="1600"/>
              <a:buFont typeface="Calibri"/>
              <a:buChar char="•"/>
            </a:pPr>
            <a:r>
              <a:rPr lang="en-US" sz="1600" b="0" i="0" u="none" strike="noStrike" cap="none" dirty="0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College Name - SRM Institute of Science and Technology</a:t>
            </a:r>
            <a:endParaRPr dirty="0"/>
          </a:p>
          <a:p>
            <a:pPr marL="177800" marR="0" lvl="0" indent="-177800" algn="l" rtl="0">
              <a:spcBef>
                <a:spcPts val="500"/>
              </a:spcBef>
              <a:spcAft>
                <a:spcPts val="0"/>
              </a:spcAft>
              <a:buClr>
                <a:srgbClr val="63637E"/>
              </a:buClr>
              <a:buSzPts val="1600"/>
              <a:buFont typeface="Calibri"/>
              <a:buChar char="•"/>
            </a:pPr>
            <a:r>
              <a:rPr lang="en-US" sz="1600" b="0" i="0" u="none" strike="noStrike" cap="none" dirty="0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Himanish Srivastava</a:t>
            </a:r>
            <a:r>
              <a:rPr lang="en-US" sz="1600" dirty="0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- hs1444@srmist.edu.in</a:t>
            </a:r>
            <a:endParaRPr dirty="0"/>
          </a:p>
          <a:p>
            <a:pPr marL="177800" lvl="0" indent="-177800">
              <a:spcBef>
                <a:spcPts val="500"/>
              </a:spcBef>
              <a:buClr>
                <a:srgbClr val="63637E"/>
              </a:buClr>
              <a:buSzPts val="1600"/>
              <a:buFont typeface="Calibri"/>
              <a:buChar char="•"/>
            </a:pPr>
            <a:r>
              <a:rPr lang="en-US" sz="1600" b="0" i="0" u="none" strike="noStrike" cap="none" dirty="0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Hannah Imtiaz</a:t>
            </a:r>
            <a:r>
              <a:rPr lang="en-US" sz="1600" dirty="0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-  hi0642@srmist.edu.in </a:t>
            </a:r>
            <a:endParaRPr dirty="0"/>
          </a:p>
          <a:p>
            <a:pPr marL="177800" lvl="0" indent="-177800">
              <a:spcBef>
                <a:spcPts val="500"/>
              </a:spcBef>
              <a:buClr>
                <a:srgbClr val="63637E"/>
              </a:buClr>
              <a:buSzPts val="1600"/>
              <a:buFont typeface="Calibri"/>
              <a:buChar char="•"/>
            </a:pPr>
            <a:r>
              <a:rPr lang="en-US" sz="1600" b="0" i="0" u="none" strike="noStrike" cap="none" dirty="0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Aymen Aamir</a:t>
            </a:r>
            <a:r>
              <a:rPr lang="en-US" sz="1600" dirty="0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- aa7474@srmist.edu.in </a:t>
            </a:r>
            <a:endParaRPr dirty="0"/>
          </a:p>
          <a:p>
            <a:pPr marL="177800" lvl="0" indent="-177800">
              <a:spcBef>
                <a:spcPts val="500"/>
              </a:spcBef>
              <a:buClr>
                <a:srgbClr val="63637E"/>
              </a:buClr>
              <a:buSzPts val="1600"/>
              <a:buFont typeface="Calibri"/>
              <a:buChar char="•"/>
            </a:pPr>
            <a:r>
              <a:rPr lang="en-US" sz="1600" b="0" i="0" u="none" strike="noStrike" cap="none" dirty="0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Megha Kadiyala</a:t>
            </a:r>
            <a:r>
              <a:rPr lang="en-US" sz="1600" dirty="0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- mk7940@srmist.edu.in </a:t>
            </a:r>
            <a:endParaRPr dirty="0"/>
          </a:p>
          <a:p>
            <a:pPr marL="177800" marR="0" lvl="0" indent="-177800" algn="l" rtl="0">
              <a:spcBef>
                <a:spcPts val="500"/>
              </a:spcBef>
              <a:spcAft>
                <a:spcPts val="0"/>
              </a:spcAft>
              <a:buClr>
                <a:srgbClr val="63637E"/>
              </a:buClr>
              <a:buSzPts val="1600"/>
              <a:buFont typeface="Calibri"/>
              <a:buChar char="•"/>
            </a:pPr>
            <a:r>
              <a:rPr lang="en-US" sz="1600" dirty="0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Submission link - </a:t>
            </a:r>
            <a:r>
              <a:rPr lang="en-US" sz="1600" b="0" i="0" u="none" strike="noStrike" cap="none" dirty="0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github.com/</a:t>
            </a:r>
            <a:r>
              <a:rPr lang="en-US" sz="1600" b="0" i="0" u="none" strike="noStrike" cap="none" dirty="0" err="1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himanish-srivastava</a:t>
            </a:r>
            <a:r>
              <a:rPr lang="en-US" sz="1600" b="0" i="0" u="none" strike="noStrike" cap="none" dirty="0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/Realtime-</a:t>
            </a:r>
            <a:r>
              <a:rPr lang="en-US" sz="1600" b="0" i="0" u="none" strike="noStrike" cap="none" dirty="0" err="1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Interruptable</a:t>
            </a:r>
            <a:r>
              <a:rPr lang="en-US" sz="1600" b="0" i="0" u="none" strike="noStrike" cap="none" dirty="0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-AI-Agents</a:t>
            </a:r>
            <a:endParaRPr dirty="0"/>
          </a:p>
          <a:p>
            <a:pPr marL="177800" marR="0" lvl="0" indent="-76200" algn="l" rtl="0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 dirty="0">
              <a:solidFill>
                <a:srgbClr val="63637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6" name="Google Shape;96;p1" descr="hero_network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059168" y="1051560"/>
            <a:ext cx="4572000" cy="4572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4EA6"/>
              </a:buClr>
              <a:buSzPts val="4400"/>
              <a:buFont typeface="Calibri"/>
              <a:buNone/>
            </a:pPr>
            <a:r>
              <a:rPr lang="en-US" b="1">
                <a:solidFill>
                  <a:srgbClr val="704EA6"/>
                </a:solidFill>
                <a:latin typeface="Calibri"/>
                <a:ea typeface="Calibri"/>
                <a:cs typeface="Calibri"/>
                <a:sym typeface="Calibri"/>
              </a:rPr>
              <a:t>Theme</a:t>
            </a:r>
            <a:endParaRPr/>
          </a:p>
        </p:txBody>
      </p:sp>
      <p:sp>
        <p:nvSpPr>
          <p:cNvPr id="102" name="Google Shape;102;p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85750" indent="-285750">
              <a:spcAft>
                <a:spcPts val="900"/>
              </a:spcAft>
              <a:buClr>
                <a:srgbClr val="704EA6"/>
              </a:buClr>
              <a:buFont typeface="Arial"/>
              <a:buChar char="•"/>
            </a:pPr>
            <a:r>
              <a:rPr lang="en-US" sz="2000" b="1">
                <a:solidFill>
                  <a:srgbClr val="333333"/>
                </a:solidFill>
                <a:latin typeface="Calibri"/>
              </a:rPr>
              <a:t>Problem: </a:t>
            </a:r>
            <a:r>
              <a:rPr lang="en-US" sz="2000" b="0">
                <a:solidFill>
                  <a:srgbClr val="333333"/>
                </a:solidFill>
                <a:latin typeface="Calibri"/>
              </a:rPr>
              <a:t>Assistants are half-duplex (listen, think, speak); real users interrupt, re-plan and self-correct mid-sentence.</a:t>
            </a:r>
          </a:p>
          <a:p>
            <a:pPr marL="285750" indent="-285750">
              <a:spcAft>
                <a:spcPts val="900"/>
              </a:spcAft>
              <a:buClr>
                <a:srgbClr val="704EA6"/>
              </a:buClr>
              <a:buFont typeface="Arial"/>
              <a:buChar char="•"/>
            </a:pPr>
            <a:r>
              <a:rPr lang="en-US" sz="2000" b="1">
                <a:solidFill>
                  <a:srgbClr val="333333"/>
                </a:solidFill>
                <a:latin typeface="Calibri"/>
              </a:rPr>
              <a:t>Core challenge: </a:t>
            </a:r>
            <a:r>
              <a:rPr lang="en-US" sz="2000" b="0">
                <a:solidFill>
                  <a:srgbClr val="333333"/>
                </a:solidFill>
                <a:latin typeface="Calibri"/>
              </a:rPr>
              <a:t>Concurrency and state consistency across perception, reasoning, tool execution and speech.</a:t>
            </a:r>
          </a:p>
          <a:p>
            <a:pPr marL="285750" indent="-285750">
              <a:spcAft>
                <a:spcPts val="900"/>
              </a:spcAft>
              <a:buClr>
                <a:srgbClr val="704EA6"/>
              </a:buClr>
              <a:buFont typeface="Arial"/>
              <a:buChar char="•"/>
            </a:pPr>
            <a:r>
              <a:rPr lang="en-US" sz="2000" b="1">
                <a:solidFill>
                  <a:srgbClr val="333333"/>
                </a:solidFill>
                <a:latin typeface="Calibri"/>
              </a:rPr>
              <a:t>Theme 05 model: </a:t>
            </a:r>
            <a:r>
              <a:rPr lang="en-US" sz="2000" b="0">
                <a:solidFill>
                  <a:srgbClr val="333333"/>
                </a:solidFill>
                <a:latin typeface="Calibri"/>
              </a:rPr>
              <a:t>Fast path (fillers, acknowledgment), slow path (async tools), coordination layer (cancellation, snapshots, idempotency).</a:t>
            </a:r>
          </a:p>
          <a:p>
            <a:pPr marL="285750" indent="-285750">
              <a:spcAft>
                <a:spcPts val="900"/>
              </a:spcAft>
              <a:buClr>
                <a:srgbClr val="704EA6"/>
              </a:buClr>
              <a:buFont typeface="Arial"/>
              <a:buChar char="•"/>
            </a:pPr>
            <a:r>
              <a:rPr lang="en-US" sz="2000" b="1">
                <a:solidFill>
                  <a:srgbClr val="333333"/>
                </a:solidFill>
                <a:latin typeface="Calibri"/>
              </a:rPr>
              <a:t>Our project: </a:t>
            </a:r>
            <a:r>
              <a:rPr lang="en-US" sz="2000" b="0">
                <a:solidFill>
                  <a:srgbClr val="333333"/>
                </a:solidFill>
                <a:latin typeface="Calibri"/>
              </a:rPr>
              <a:t>Holdfast, an interruptible real-time voice agent built on LiveKit and tested on Full-Duplex-Bench-v3.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4EA6"/>
              </a:buClr>
              <a:buSzPts val="4400"/>
              <a:buFont typeface="Calibri"/>
              <a:buNone/>
            </a:pPr>
            <a:r>
              <a:rPr lang="en-US" b="1">
                <a:solidFill>
                  <a:srgbClr val="704EA6"/>
                </a:solidFill>
                <a:latin typeface="Calibri"/>
                <a:ea typeface="Calibri"/>
                <a:cs typeface="Calibri"/>
                <a:sym typeface="Calibri"/>
              </a:rPr>
              <a:t>Existing Solutions &amp; Gaps</a:t>
            </a:r>
            <a:endParaRPr/>
          </a:p>
        </p:txBody>
      </p:sp>
      <p:sp>
        <p:nvSpPr>
          <p:cNvPr id="108" name="Google Shape;108;p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85750" indent="-285750">
              <a:spcAft>
                <a:spcPts val="900"/>
              </a:spcAft>
              <a:buClr>
                <a:srgbClr val="704EA6"/>
              </a:buClr>
              <a:buFont typeface="Arial"/>
              <a:buChar char="•"/>
            </a:pPr>
            <a:r>
              <a:rPr lang="en-US" sz="2000" b="1">
                <a:solidFill>
                  <a:srgbClr val="333333"/>
                </a:solidFill>
                <a:latin typeface="Calibri"/>
              </a:rPr>
              <a:t>Benchmark bar: </a:t>
            </a:r>
            <a:r>
              <a:rPr lang="en-US" sz="2000" b="0">
                <a:solidFill>
                  <a:srgbClr val="333333"/>
                </a:solidFill>
                <a:latin typeface="Calibri"/>
              </a:rPr>
              <a:t>Best baseline (GPT-Realtime) reaches Pass@1 of 0.60; Cascaded only 0.45, with 10 s latency.</a:t>
            </a:r>
          </a:p>
          <a:p>
            <a:pPr marL="285750" indent="-285750">
              <a:spcAft>
                <a:spcPts val="900"/>
              </a:spcAft>
              <a:buClr>
                <a:srgbClr val="704EA6"/>
              </a:buClr>
              <a:buFont typeface="Arial"/>
              <a:buChar char="•"/>
            </a:pPr>
            <a:r>
              <a:rPr lang="en-US" sz="2000" b="1">
                <a:solidFill>
                  <a:srgbClr val="333333"/>
                </a:solidFill>
                <a:latin typeface="Calibri"/>
              </a:rPr>
              <a:t>Self-correction: </a:t>
            </a:r>
            <a:r>
              <a:rPr lang="en-US" sz="2000" b="0">
                <a:solidFill>
                  <a:srgbClr val="333333"/>
                </a:solidFill>
                <a:latin typeface="Calibri"/>
              </a:rPr>
              <a:t>21 of 100 scenarios. Cascaded scores 0.176; even GPT-Realtime fails over 40%.</a:t>
            </a:r>
          </a:p>
          <a:p>
            <a:pPr marL="285750" indent="-285750">
              <a:spcAft>
                <a:spcPts val="900"/>
              </a:spcAft>
              <a:buClr>
                <a:srgbClr val="704EA6"/>
              </a:buClr>
              <a:buFont typeface="Arial"/>
              <a:buChar char="•"/>
            </a:pPr>
            <a:r>
              <a:rPr lang="en-US" sz="2000" b="1">
                <a:solidFill>
                  <a:srgbClr val="333333"/>
                </a:solidFill>
                <a:latin typeface="Calibri"/>
              </a:rPr>
              <a:t>Premature tool calls: </a:t>
            </a:r>
            <a:r>
              <a:rPr lang="en-US" sz="2000" b="0">
                <a:solidFill>
                  <a:srgbClr val="333333"/>
                </a:solidFill>
                <a:latin typeface="Calibri"/>
              </a:rPr>
              <a:t>Models call the API before the user finishes correcting ("Rome" locked in over the corrected city).</a:t>
            </a:r>
          </a:p>
          <a:p>
            <a:pPr marL="285750" indent="-285750">
              <a:spcAft>
                <a:spcPts val="900"/>
              </a:spcAft>
              <a:buClr>
                <a:srgbClr val="704EA6"/>
              </a:buClr>
              <a:buFont typeface="Arial"/>
              <a:buChar char="•"/>
            </a:pPr>
            <a:r>
              <a:rPr lang="en-US" sz="2000" b="1">
                <a:solidFill>
                  <a:srgbClr val="333333"/>
                </a:solidFill>
                <a:latin typeface="Calibri"/>
              </a:rPr>
              <a:t>Silent completions: </a:t>
            </a:r>
            <a:r>
              <a:rPr lang="en-US" sz="2000" b="0">
                <a:solidFill>
                  <a:srgbClr val="333333"/>
                </a:solidFill>
                <a:latin typeface="Calibri"/>
              </a:rPr>
              <a:t>Some models run tools correctly but say nothing, losing response-quality points.</a:t>
            </a:r>
          </a:p>
          <a:p>
            <a:pPr marL="285750" indent="-285750">
              <a:spcAft>
                <a:spcPts val="900"/>
              </a:spcAft>
              <a:buClr>
                <a:srgbClr val="704EA6"/>
              </a:buClr>
              <a:buFont typeface="Arial"/>
              <a:buChar char="•"/>
            </a:pPr>
            <a:r>
              <a:rPr lang="en-US" sz="2000" b="1">
                <a:solidFill>
                  <a:srgbClr val="333333"/>
                </a:solidFill>
                <a:latin typeface="Calibri"/>
              </a:rPr>
              <a:t>Forced values: </a:t>
            </a:r>
            <a:r>
              <a:rPr lang="en-US" sz="2000" b="0">
                <a:solidFill>
                  <a:srgbClr val="333333"/>
                </a:solidFill>
                <a:latin typeface="Calibri"/>
              </a:rPr>
              <a:t>Template tools make the model invent arguments the user never said (Housing is the hardest domain).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4"/>
          <p:cNvSpPr txBox="1">
            <a:spLocks noGrp="1"/>
          </p:cNvSpPr>
          <p:nvPr>
            <p:ph type="title"/>
          </p:nvPr>
        </p:nvSpPr>
        <p:spPr>
          <a:xfrm>
            <a:off x="909917" y="266513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4EA6"/>
              </a:buClr>
              <a:buSzPts val="4400"/>
              <a:buFont typeface="Calibri"/>
              <a:buNone/>
            </a:pPr>
            <a:r>
              <a:rPr lang="en-US" b="1">
                <a:solidFill>
                  <a:srgbClr val="704EA6"/>
                </a:solidFill>
                <a:latin typeface="Calibri"/>
                <a:ea typeface="Calibri"/>
                <a:cs typeface="Calibri"/>
                <a:sym typeface="Calibri"/>
              </a:rPr>
              <a:t>Our Solutions &amp; Architecture Diagram</a:t>
            </a:r>
            <a:endParaRPr/>
          </a:p>
        </p:txBody>
      </p:sp>
      <p:sp>
        <p:nvSpPr>
          <p:cNvPr id="114" name="Google Shape;114;p4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62000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85750" indent="-285750">
              <a:spcAft>
                <a:spcPts val="900"/>
              </a:spcAft>
              <a:buClr>
                <a:srgbClr val="704EA6"/>
              </a:buClr>
              <a:buFont typeface="Arial"/>
              <a:buChar char="•"/>
            </a:pPr>
            <a:r>
              <a:rPr lang="en-US" sz="1600" b="1">
                <a:solidFill>
                  <a:srgbClr val="333333"/>
                </a:solidFill>
                <a:latin typeface="Calibri"/>
              </a:rPr>
              <a:t>Commit gate: </a:t>
            </a:r>
            <a:r>
              <a:rPr lang="en-US" sz="1600" b="0">
                <a:solidFill>
                  <a:srgbClr val="333333"/>
                </a:solidFill>
                <a:latin typeface="Calibri"/>
              </a:rPr>
              <a:t>holds tool calls until the user is silent; refuses calls the user talked over; challenges once on "no wait".</a:t>
            </a:r>
          </a:p>
          <a:p>
            <a:pPr marL="285750" indent="-285750">
              <a:spcAft>
                <a:spcPts val="900"/>
              </a:spcAft>
              <a:buClr>
                <a:srgbClr val="704EA6"/>
              </a:buClr>
              <a:buFont typeface="Arial"/>
              <a:buChar char="•"/>
            </a:pPr>
            <a:r>
              <a:rPr lang="en-US" sz="1600" b="1">
                <a:solidFill>
                  <a:srgbClr val="333333"/>
                </a:solidFill>
                <a:latin typeface="Calibri"/>
              </a:rPr>
              <a:t>Idempotency ledger: </a:t>
            </a:r>
            <a:r>
              <a:rPr lang="en-US" sz="1600" b="0">
                <a:solidFill>
                  <a:srgbClr val="333333"/>
                </a:solidFill>
                <a:latin typeface="Calibri"/>
              </a:rPr>
              <a:t>an identical state-changing action never runs twice; concurrent duplicates join the first run.</a:t>
            </a:r>
          </a:p>
          <a:p>
            <a:pPr marL="285750" indent="-285750">
              <a:spcAft>
                <a:spcPts val="900"/>
              </a:spcAft>
              <a:buClr>
                <a:srgbClr val="704EA6"/>
              </a:buClr>
              <a:buFont typeface="Arial"/>
              <a:buChar char="•"/>
            </a:pPr>
            <a:r>
              <a:rPr lang="en-US" sz="1600" b="1">
                <a:solidFill>
                  <a:srgbClr val="333333"/>
                </a:solidFill>
                <a:latin typeface="Calibri"/>
              </a:rPr>
              <a:t>Semantic turn detection: </a:t>
            </a:r>
            <a:r>
              <a:rPr lang="en-US" sz="1600" b="0">
                <a:solidFill>
                  <a:srgbClr val="333333"/>
                </a:solidFill>
                <a:latin typeface="Calibri"/>
              </a:rPr>
              <a:t>handles pauses and hesitations.</a:t>
            </a:r>
          </a:p>
          <a:p>
            <a:pPr marL="285750" indent="-285750">
              <a:spcAft>
                <a:spcPts val="900"/>
              </a:spcAft>
              <a:buClr>
                <a:srgbClr val="704EA6"/>
              </a:buClr>
              <a:buFont typeface="Arial"/>
              <a:buChar char="•"/>
            </a:pPr>
            <a:r>
              <a:rPr lang="en-US" sz="1600" b="1">
                <a:solidFill>
                  <a:srgbClr val="333333"/>
                </a:solidFill>
                <a:latin typeface="Calibri"/>
              </a:rPr>
              <a:t>Speech watchdog: </a:t>
            </a:r>
            <a:r>
              <a:rPr lang="en-US" sz="1600" b="0">
                <a:solidFill>
                  <a:srgbClr val="333333"/>
                </a:solidFill>
                <a:latin typeface="Calibri"/>
              </a:rPr>
              <a:t>forces a spoken summary if tools finish in silence.</a:t>
            </a:r>
          </a:p>
          <a:p>
            <a:pPr marL="285750" indent="-285750">
              <a:spcAft>
                <a:spcPts val="900"/>
              </a:spcAft>
              <a:buClr>
                <a:srgbClr val="704EA6"/>
              </a:buClr>
              <a:buFont typeface="Arial"/>
              <a:buChar char="•"/>
            </a:pPr>
            <a:r>
              <a:rPr lang="en-US" sz="1600" b="1">
                <a:solidFill>
                  <a:srgbClr val="333333"/>
                </a:solidFill>
                <a:latin typeface="Calibri"/>
              </a:rPr>
              <a:t>Fast / slow path: </a:t>
            </a:r>
            <a:r>
              <a:rPr lang="en-US" sz="1600" b="0">
                <a:solidFill>
                  <a:srgbClr val="333333"/>
                </a:solidFill>
                <a:latin typeface="Calibri"/>
              </a:rPr>
              <a:t>acknowledge after end-of-turn, tools run async.</a:t>
            </a:r>
          </a:p>
        </p:txBody>
      </p:sp>
      <p:sp>
        <p:nvSpPr>
          <p:cNvPr id="200" name="b200"/>
          <p:cNvSpPr/>
          <p:nvPr/>
        </p:nvSpPr>
        <p:spPr>
          <a:xfrm>
            <a:off x="7300000" y="1650000"/>
            <a:ext cx="3900000" cy="640000"/>
          </a:xfrm>
          <a:prstGeom prst="roundRect">
            <a:avLst/>
          </a:prstGeom>
          <a:solidFill>
            <a:srgbClr val="704EA6"/>
          </a:solidFill>
          <a:ln>
            <a:noFill/>
          </a:ln>
        </p:spPr>
        <p:txBody>
          <a:bodyPr lIns="73000" rIns="73000" anchor="ctr">
            <a:normAutofit/>
          </a:bodyPr>
          <a:lstStyle/>
          <a:p>
            <a:pPr algn="ctr"/>
            <a:r>
              <a:rPr lang="en-US" sz="1300" b="1">
                <a:solidFill>
                  <a:srgbClr val="FFFFFF"/>
                </a:solidFill>
                <a:latin typeface="Calibri"/>
              </a:rPr>
              <a:t>User speech (streaming, disfluent)</a:t>
            </a:r>
          </a:p>
        </p:txBody>
      </p:sp>
      <p:sp>
        <p:nvSpPr>
          <p:cNvPr id="201" name="b201"/>
          <p:cNvSpPr/>
          <p:nvPr/>
        </p:nvSpPr>
        <p:spPr>
          <a:xfrm>
            <a:off x="7300000" y="2480000"/>
            <a:ext cx="3900000" cy="640000"/>
          </a:xfrm>
          <a:prstGeom prst="roundRect">
            <a:avLst/>
          </a:prstGeom>
          <a:solidFill>
            <a:srgbClr val="5B3F8A"/>
          </a:solidFill>
          <a:ln>
            <a:noFill/>
          </a:ln>
        </p:spPr>
        <p:txBody>
          <a:bodyPr lIns="73000" rIns="73000" anchor="ctr">
            <a:normAutofit/>
          </a:bodyPr>
          <a:lstStyle/>
          <a:p>
            <a:pPr algn="ctr"/>
            <a:r>
              <a:rPr lang="en-US" sz="1300" b="1">
                <a:solidFill>
                  <a:srgbClr val="FFFFFF"/>
                </a:solidFill>
                <a:latin typeface="Calibri"/>
              </a:rPr>
              <a:t>Turn detection (semantic, not silence-only)</a:t>
            </a:r>
          </a:p>
        </p:txBody>
      </p:sp>
      <p:sp>
        <p:nvSpPr>
          <p:cNvPr id="202" name="b202"/>
          <p:cNvSpPr/>
          <p:nvPr/>
        </p:nvSpPr>
        <p:spPr>
          <a:xfrm>
            <a:off x="7300000" y="3310000"/>
            <a:ext cx="3900000" cy="640000"/>
          </a:xfrm>
          <a:prstGeom prst="roundRect">
            <a:avLst/>
          </a:prstGeom>
          <a:solidFill>
            <a:srgbClr val="3B2A5C"/>
          </a:solidFill>
          <a:ln>
            <a:noFill/>
          </a:ln>
        </p:spPr>
        <p:txBody>
          <a:bodyPr lIns="73000" rIns="73000" anchor="ctr">
            <a:normAutofit/>
          </a:bodyPr>
          <a:lstStyle/>
          <a:p>
            <a:pPr algn="ctr"/>
            <a:r>
              <a:rPr lang="en-US" sz="1300" b="1">
                <a:solidFill>
                  <a:srgbClr val="FFFFFF"/>
                </a:solidFill>
                <a:latin typeface="Calibri"/>
              </a:rPr>
              <a:t>Commit gate + self-correction check</a:t>
            </a:r>
          </a:p>
        </p:txBody>
      </p:sp>
      <p:sp>
        <p:nvSpPr>
          <p:cNvPr id="203" name="b203"/>
          <p:cNvSpPr/>
          <p:nvPr/>
        </p:nvSpPr>
        <p:spPr>
          <a:xfrm>
            <a:off x="7300000" y="4140000"/>
            <a:ext cx="3900000" cy="640000"/>
          </a:xfrm>
          <a:prstGeom prst="roundRect">
            <a:avLst/>
          </a:prstGeom>
          <a:solidFill>
            <a:srgbClr val="5B3F8A"/>
          </a:solidFill>
          <a:ln>
            <a:noFill/>
          </a:ln>
        </p:spPr>
        <p:txBody>
          <a:bodyPr lIns="73000" rIns="73000" anchor="ctr">
            <a:normAutofit/>
          </a:bodyPr>
          <a:lstStyle/>
          <a:p>
            <a:pPr algn="ctr"/>
            <a:r>
              <a:rPr lang="en-US" sz="1300" b="1">
                <a:solidFill>
                  <a:srgbClr val="FFFFFF"/>
                </a:solidFill>
                <a:latin typeface="Calibri"/>
              </a:rPr>
              <a:t>Idempotency ledger, then tool execution</a:t>
            </a:r>
          </a:p>
        </p:txBody>
      </p:sp>
      <p:sp>
        <p:nvSpPr>
          <p:cNvPr id="204" name="b204"/>
          <p:cNvSpPr/>
          <p:nvPr/>
        </p:nvSpPr>
        <p:spPr>
          <a:xfrm>
            <a:off x="7300000" y="4970000"/>
            <a:ext cx="3900000" cy="640000"/>
          </a:xfrm>
          <a:prstGeom prst="roundRect">
            <a:avLst/>
          </a:prstGeom>
          <a:solidFill>
            <a:srgbClr val="704EA6"/>
          </a:solidFill>
          <a:ln>
            <a:noFill/>
          </a:ln>
        </p:spPr>
        <p:txBody>
          <a:bodyPr lIns="73000" rIns="73000" anchor="ctr">
            <a:normAutofit/>
          </a:bodyPr>
          <a:lstStyle/>
          <a:p>
            <a:pPr algn="ctr"/>
            <a:r>
              <a:rPr lang="en-US" sz="1300" b="1">
                <a:solidFill>
                  <a:srgbClr val="FFFFFF"/>
                </a:solidFill>
                <a:latin typeface="Calibri"/>
              </a:rPr>
              <a:t>Speech watchdog, then spoken reply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4EA6"/>
              </a:buClr>
              <a:buSzPts val="4400"/>
              <a:buFont typeface="Calibri"/>
              <a:buNone/>
            </a:pPr>
            <a:r>
              <a:rPr lang="en-US" b="1">
                <a:solidFill>
                  <a:srgbClr val="704EA6"/>
                </a:solidFill>
                <a:latin typeface="Calibri"/>
                <a:ea typeface="Calibri"/>
                <a:cs typeface="Calibri"/>
                <a:sym typeface="Calibri"/>
              </a:rPr>
              <a:t>Demo &amp; Product Walkthrough</a:t>
            </a:r>
            <a:endParaRPr/>
          </a:p>
        </p:txBody>
      </p:sp>
      <p:sp>
        <p:nvSpPr>
          <p:cNvPr id="120" name="Google Shape;120;p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85750" indent="-285750">
              <a:spcAft>
                <a:spcPts val="900"/>
              </a:spcAft>
              <a:buClr>
                <a:srgbClr val="704EA6"/>
              </a:buClr>
              <a:buFont typeface="Arial"/>
              <a:buChar char="•"/>
            </a:pPr>
            <a:r>
              <a:rPr lang="en-US" sz="2000" b="1">
                <a:solidFill>
                  <a:srgbClr val="333333"/>
                </a:solidFill>
                <a:latin typeface="Calibri"/>
              </a:rPr>
              <a:t>Scenario 1, self-correction: </a:t>
            </a:r>
            <a:r>
              <a:rPr lang="en-US" sz="2000" b="0">
                <a:solidFill>
                  <a:srgbClr val="333333"/>
                </a:solidFill>
                <a:latin typeface="Calibri"/>
              </a:rPr>
              <a:t>"Flights to Lisbon... no wait, Porto." Only the Porto search runs.</a:t>
            </a:r>
          </a:p>
          <a:p>
            <a:pPr marL="285750" indent="-285750">
              <a:spcAft>
                <a:spcPts val="900"/>
              </a:spcAft>
              <a:buClr>
                <a:srgbClr val="704EA6"/>
              </a:buClr>
              <a:buFont typeface="Arial"/>
              <a:buChar char="•"/>
            </a:pPr>
            <a:r>
              <a:rPr lang="en-US" sz="2000" b="1">
                <a:solidFill>
                  <a:srgbClr val="333333"/>
                </a:solidFill>
                <a:latin typeface="Calibri"/>
              </a:rPr>
              <a:t>Scenario 2, barge-in: </a:t>
            </a:r>
            <a:r>
              <a:rPr lang="en-US" sz="2000" b="0">
                <a:solidFill>
                  <a:srgbClr val="333333"/>
                </a:solidFill>
                <a:latin typeface="Calibri"/>
              </a:rPr>
              <a:t>user interrupts mid-tool; stale call is dropped and the plan is redone.</a:t>
            </a:r>
          </a:p>
          <a:p>
            <a:pPr marL="285750" indent="-285750">
              <a:spcAft>
                <a:spcPts val="900"/>
              </a:spcAft>
              <a:buClr>
                <a:srgbClr val="704EA6"/>
              </a:buClr>
              <a:buFont typeface="Arial"/>
              <a:buChar char="•"/>
            </a:pPr>
            <a:r>
              <a:rPr lang="en-US" sz="2000" b="1">
                <a:solidFill>
                  <a:srgbClr val="333333"/>
                </a:solidFill>
                <a:latin typeface="Calibri"/>
              </a:rPr>
              <a:t>Scenario 3, in-car: </a:t>
            </a:r>
            <a:r>
              <a:rPr lang="en-US" sz="2000" b="0">
                <a:solidFill>
                  <a:srgbClr val="333333"/>
                </a:solidFill>
                <a:latin typeface="Calibri"/>
              </a:rPr>
              <a:t>destination changes mid-route; old route is superseded, ETA text sent exactly once.</a:t>
            </a:r>
          </a:p>
          <a:p>
            <a:pPr marL="285750" indent="-285750">
              <a:spcAft>
                <a:spcPts val="900"/>
              </a:spcAft>
              <a:buClr>
                <a:srgbClr val="704EA6"/>
              </a:buClr>
              <a:buFont typeface="Arial"/>
              <a:buChar char="•"/>
            </a:pPr>
            <a:r>
              <a:rPr lang="en-US" sz="2000" b="1">
                <a:solidFill>
                  <a:srgbClr val="333333"/>
                </a:solidFill>
                <a:latin typeface="Calibri"/>
              </a:rPr>
              <a:t>Demo video (max 5 min): </a:t>
            </a:r>
            <a:r>
              <a:rPr lang="en-US" sz="2000" b="0">
                <a:solidFill>
                  <a:srgbClr val="333333"/>
                </a:solidFill>
                <a:latin typeface="Calibri"/>
              </a:rPr>
              <a:t>link on Checklist slide; full code and setup in the GitHub README.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4EA6"/>
              </a:buClr>
              <a:buSzPts val="4400"/>
              <a:buFont typeface="Calibri"/>
              <a:buNone/>
            </a:pPr>
            <a:r>
              <a:rPr lang="en-US" sz="4400" b="1">
                <a:solidFill>
                  <a:srgbClr val="704EA6"/>
                </a:solidFill>
                <a:latin typeface="Calibri"/>
                <a:ea typeface="Calibri"/>
                <a:cs typeface="Calibri"/>
                <a:sym typeface="Calibri"/>
              </a:rPr>
              <a:t>Tools and tech stack used</a:t>
            </a:r>
            <a:endParaRPr b="1">
              <a:solidFill>
                <a:srgbClr val="704EA6"/>
              </a:solidFill>
            </a:endParaRPr>
          </a:p>
        </p:txBody>
      </p:sp>
      <p:sp>
        <p:nvSpPr>
          <p:cNvPr id="126" name="Google Shape;126;p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85750" indent="-285750">
              <a:spcAft>
                <a:spcPts val="900"/>
              </a:spcAft>
              <a:buClr>
                <a:srgbClr val="704EA6"/>
              </a:buClr>
              <a:buFont typeface="Arial"/>
              <a:buChar char="•"/>
            </a:pPr>
            <a:r>
              <a:rPr lang="en-US" sz="2000" b="1">
                <a:solidFill>
                  <a:srgbClr val="333333"/>
                </a:solidFill>
                <a:latin typeface="Calibri"/>
              </a:rPr>
              <a:t>Runtime: </a:t>
            </a:r>
            <a:r>
              <a:rPr lang="en-US" sz="2000" b="0">
                <a:solidFill>
                  <a:srgbClr val="333333"/>
                </a:solidFill>
                <a:latin typeface="Calibri"/>
              </a:rPr>
              <a:t>Python 3.10-3.12, asyncio event loop</a:t>
            </a:r>
          </a:p>
          <a:p>
            <a:pPr marL="285750" indent="-285750">
              <a:spcAft>
                <a:spcPts val="900"/>
              </a:spcAft>
              <a:buClr>
                <a:srgbClr val="704EA6"/>
              </a:buClr>
              <a:buFont typeface="Arial"/>
              <a:buChar char="•"/>
            </a:pPr>
            <a:r>
              <a:rPr lang="en-US" sz="2000" b="1">
                <a:solidFill>
                  <a:srgbClr val="333333"/>
                </a:solidFill>
                <a:latin typeface="Calibri"/>
              </a:rPr>
              <a:t>Voice framework: </a:t>
            </a:r>
            <a:r>
              <a:rPr lang="en-US" sz="2000" b="0">
                <a:solidFill>
                  <a:srgbClr val="333333"/>
                </a:solidFill>
                <a:latin typeface="Calibri"/>
              </a:rPr>
              <a:t>LiveKit Agents 1.8.3 with turn-detector plugin</a:t>
            </a:r>
          </a:p>
          <a:p>
            <a:pPr marL="285750" indent="-285750">
              <a:spcAft>
                <a:spcPts val="900"/>
              </a:spcAft>
              <a:buClr>
                <a:srgbClr val="704EA6"/>
              </a:buClr>
              <a:buFont typeface="Arial"/>
              <a:buChar char="•"/>
            </a:pPr>
            <a:r>
              <a:rPr lang="en-US" sz="2000" b="1">
                <a:solidFill>
                  <a:srgbClr val="333333"/>
                </a:solidFill>
                <a:latin typeface="Calibri"/>
              </a:rPr>
              <a:t>Model: </a:t>
            </a:r>
            <a:r>
              <a:rPr lang="en-US" sz="2000" b="0">
                <a:solidFill>
                  <a:srgbClr val="333333"/>
                </a:solidFill>
                <a:latin typeface="Calibri"/>
              </a:rPr>
              <a:t>OpenAI Realtime API (pinned snapshot)</a:t>
            </a:r>
          </a:p>
          <a:p>
            <a:pPr marL="285750" indent="-285750">
              <a:spcAft>
                <a:spcPts val="900"/>
              </a:spcAft>
              <a:buClr>
                <a:srgbClr val="704EA6"/>
              </a:buClr>
              <a:buFont typeface="Arial"/>
              <a:buChar char="•"/>
            </a:pPr>
            <a:r>
              <a:rPr lang="en-US" sz="2000" b="1">
                <a:solidFill>
                  <a:srgbClr val="333333"/>
                </a:solidFill>
                <a:latin typeface="Calibri"/>
              </a:rPr>
              <a:t>Evaluation: </a:t>
            </a:r>
            <a:r>
              <a:rPr lang="en-US" sz="2000" b="0">
                <a:solidFill>
                  <a:srgbClr val="333333"/>
                </a:solidFill>
                <a:latin typeface="Calibri"/>
              </a:rPr>
              <a:t>Full-Duplex-Bench-v3 harness (pinned commit), one-command reproduce.sh</a:t>
            </a:r>
          </a:p>
          <a:p>
            <a:pPr marL="285750" indent="-285750">
              <a:spcAft>
                <a:spcPts val="900"/>
              </a:spcAft>
              <a:buClr>
                <a:srgbClr val="704EA6"/>
              </a:buClr>
              <a:buFont typeface="Arial"/>
              <a:buChar char="•"/>
            </a:pPr>
            <a:r>
              <a:rPr lang="en-US" sz="2000" b="1">
                <a:solidFill>
                  <a:srgbClr val="333333"/>
                </a:solidFill>
                <a:latin typeface="Calibri"/>
              </a:rPr>
              <a:t>Testing: </a:t>
            </a:r>
            <a:r>
              <a:rPr lang="en-US" sz="2000" b="0">
                <a:solidFill>
                  <a:srgbClr val="333333"/>
                </a:solidFill>
                <a:latin typeface="Calibri"/>
              </a:rPr>
              <a:t>pytest unit tests, private dev set of disfluent requests</a:t>
            </a:r>
          </a:p>
          <a:p>
            <a:pPr marL="285750" indent="-285750">
              <a:spcAft>
                <a:spcPts val="900"/>
              </a:spcAft>
              <a:buClr>
                <a:srgbClr val="704EA6"/>
              </a:buClr>
              <a:buFont typeface="Arial"/>
              <a:buChar char="•"/>
            </a:pPr>
            <a:r>
              <a:rPr lang="en-US" sz="2000" b="1">
                <a:solidFill>
                  <a:srgbClr val="333333"/>
                </a:solidFill>
                <a:latin typeface="Calibri"/>
              </a:rPr>
              <a:t>Repo: </a:t>
            </a:r>
            <a:r>
              <a:rPr lang="en-US" sz="2000" b="0">
                <a:solidFill>
                  <a:srgbClr val="333333"/>
                </a:solidFill>
                <a:latin typeface="Calibri"/>
              </a:rPr>
              <a:t>public GitHub with README and setup instructions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4EA6"/>
              </a:buClr>
              <a:buSzPts val="4400"/>
              <a:buFont typeface="Calibri"/>
              <a:buNone/>
            </a:pPr>
            <a:r>
              <a:rPr lang="en-US" sz="4400" b="1">
                <a:solidFill>
                  <a:srgbClr val="704EA6"/>
                </a:solidFill>
                <a:latin typeface="Calibri"/>
                <a:ea typeface="Calibri"/>
                <a:cs typeface="Calibri"/>
                <a:sym typeface="Calibri"/>
              </a:rPr>
              <a:t>Impact &amp; Use case</a:t>
            </a:r>
            <a:endParaRPr b="1">
              <a:solidFill>
                <a:srgbClr val="704EA6"/>
              </a:solidFill>
            </a:endParaRPr>
          </a:p>
        </p:txBody>
      </p:sp>
      <p:sp>
        <p:nvSpPr>
          <p:cNvPr id="132" name="Google Shape;132;p7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85750" indent="-285750">
              <a:spcAft>
                <a:spcPts val="900"/>
              </a:spcAft>
              <a:buClr>
                <a:srgbClr val="704EA6"/>
              </a:buClr>
              <a:buFont typeface="Arial"/>
              <a:buChar char="•"/>
            </a:pPr>
            <a:r>
              <a:rPr lang="en-US" sz="2000" b="1">
                <a:solidFill>
                  <a:srgbClr val="333333"/>
                </a:solidFill>
                <a:latin typeface="Calibri"/>
              </a:rPr>
              <a:t>In-car, hands-free: </a:t>
            </a:r>
            <a:r>
              <a:rPr lang="en-US" sz="2000" b="0">
                <a:solidFill>
                  <a:srgbClr val="333333"/>
                </a:solidFill>
                <a:latin typeface="Calibri"/>
              </a:rPr>
              <a:t>drop stale route calculations when the destination changes.</a:t>
            </a:r>
          </a:p>
          <a:p>
            <a:pPr marL="285750" indent="-285750">
              <a:spcAft>
                <a:spcPts val="900"/>
              </a:spcAft>
              <a:buClr>
                <a:srgbClr val="704EA6"/>
              </a:buClr>
              <a:buFont typeface="Arial"/>
              <a:buChar char="•"/>
            </a:pPr>
            <a:r>
              <a:rPr lang="en-US" sz="2000" b="1">
                <a:solidFill>
                  <a:srgbClr val="333333"/>
                </a:solidFill>
                <a:latin typeface="Calibri"/>
              </a:rPr>
              <a:t>Customer support: </a:t>
            </a:r>
            <a:r>
              <a:rPr lang="en-US" sz="2000" b="0">
                <a:solidFill>
                  <a:srgbClr val="333333"/>
                </a:solidFill>
                <a:latin typeface="Calibri"/>
              </a:rPr>
              <a:t>adjust booking parameters mid-request without double-booking.</a:t>
            </a:r>
          </a:p>
          <a:p>
            <a:pPr marL="285750" indent="-285750">
              <a:spcAft>
                <a:spcPts val="900"/>
              </a:spcAft>
              <a:buClr>
                <a:srgbClr val="704EA6"/>
              </a:buClr>
              <a:buFont typeface="Arial"/>
              <a:buChar char="•"/>
            </a:pPr>
            <a:r>
              <a:rPr lang="en-US" sz="2000" b="1">
                <a:solidFill>
                  <a:srgbClr val="333333"/>
                </a:solidFill>
                <a:latin typeface="Calibri"/>
              </a:rPr>
              <a:t>Accessibility: </a:t>
            </a:r>
            <a:r>
              <a:rPr lang="en-US" sz="2000" b="0">
                <a:solidFill>
                  <a:srgbClr val="333333"/>
                </a:solidFill>
                <a:latin typeface="Calibri"/>
              </a:rPr>
              <a:t>resolve hesitations and self-repairs naturally.</a:t>
            </a:r>
          </a:p>
          <a:p>
            <a:pPr marL="285750" indent="-285750">
              <a:spcAft>
                <a:spcPts val="900"/>
              </a:spcAft>
              <a:buClr>
                <a:srgbClr val="704EA6"/>
              </a:buClr>
              <a:buFont typeface="Arial"/>
              <a:buChar char="•"/>
            </a:pPr>
            <a:r>
              <a:rPr lang="en-US" sz="2000" b="1">
                <a:solidFill>
                  <a:srgbClr val="333333"/>
                </a:solidFill>
                <a:latin typeface="Calibri"/>
              </a:rPr>
              <a:t>Safety: </a:t>
            </a:r>
            <a:r>
              <a:rPr lang="en-US" sz="2000" b="0">
                <a:solidFill>
                  <a:srgbClr val="333333"/>
                </a:solidFill>
                <a:latin typeface="Calibri"/>
              </a:rPr>
              <a:t>zero duplicate state-changing actions (10% of Theme 05 score).</a:t>
            </a:r>
          </a:p>
          <a:p>
            <a:pPr marL="285750" indent="-285750">
              <a:spcAft>
                <a:spcPts val="900"/>
              </a:spcAft>
              <a:buClr>
                <a:srgbClr val="704EA6"/>
              </a:buClr>
              <a:buFont typeface="Arial"/>
              <a:buChar char="•"/>
            </a:pPr>
            <a:r>
              <a:rPr lang="en-US" sz="2000" b="1">
                <a:solidFill>
                  <a:srgbClr val="333333"/>
                </a:solidFill>
                <a:latin typeface="Calibri"/>
              </a:rPr>
              <a:t>Fit to rubric: </a:t>
            </a:r>
            <a:r>
              <a:rPr lang="en-US" sz="2000" b="0">
                <a:solidFill>
                  <a:srgbClr val="333333"/>
                </a:solidFill>
                <a:latin typeface="Calibri"/>
              </a:rPr>
              <a:t>task completion 40%, interruption recovery 35%, latency 15%, safety 10%.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4EA6"/>
              </a:buClr>
              <a:buSzPts val="4400"/>
              <a:buFont typeface="Calibri"/>
              <a:buNone/>
            </a:pPr>
            <a:r>
              <a:rPr lang="en-US" sz="4400" b="1">
                <a:solidFill>
                  <a:srgbClr val="704EA6"/>
                </a:solidFill>
                <a:latin typeface="Calibri"/>
                <a:ea typeface="Calibri"/>
                <a:cs typeface="Calibri"/>
                <a:sym typeface="Calibri"/>
              </a:rPr>
              <a:t>Innovation highlights, results and limitations</a:t>
            </a:r>
            <a:endParaRPr sz="4400" b="1">
              <a:solidFill>
                <a:srgbClr val="704EA6"/>
              </a:solidFill>
            </a:endParaRPr>
          </a:p>
        </p:txBody>
      </p:sp>
      <p:sp>
        <p:nvSpPr>
          <p:cNvPr id="138" name="Google Shape;138;p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85750" indent="-285750">
              <a:spcAft>
                <a:spcPts val="900"/>
              </a:spcAft>
              <a:buClr>
                <a:srgbClr val="704EA6"/>
              </a:buClr>
              <a:buFont typeface="Arial"/>
              <a:buChar char="•"/>
            </a:pPr>
            <a:r>
              <a:rPr lang="en-US" sz="2000" b="1">
                <a:solidFill>
                  <a:srgbClr val="333333"/>
                </a:solidFill>
                <a:latin typeface="Calibri"/>
              </a:rPr>
              <a:t>Innovation: </a:t>
            </a:r>
            <a:r>
              <a:rPr lang="en-US" sz="2000" b="0">
                <a:solidFill>
                  <a:srgbClr val="333333"/>
                </a:solidFill>
                <a:latin typeface="Calibri"/>
              </a:rPr>
              <a:t>a thin control layer (gate, ledger, watchdog) that works around any realtime model.</a:t>
            </a:r>
          </a:p>
          <a:p>
            <a:pPr marL="285750" indent="-285750">
              <a:spcAft>
                <a:spcPts val="900"/>
              </a:spcAft>
              <a:buClr>
                <a:srgbClr val="704EA6"/>
              </a:buClr>
              <a:buFont typeface="Arial"/>
              <a:buChar char="•"/>
            </a:pPr>
            <a:r>
              <a:rPr lang="en-US" sz="2000" b="1">
                <a:solidFill>
                  <a:srgbClr val="333333"/>
                </a:solidFill>
                <a:latin typeface="Calibri"/>
              </a:rPr>
              <a:t>Found in harness: </a:t>
            </a:r>
            <a:r>
              <a:rPr lang="en-US" sz="2000" b="0">
                <a:solidFill>
                  <a:srgbClr val="333333"/>
                </a:solidFill>
                <a:latin typeface="Calibri"/>
              </a:rPr>
              <a:t>LiveKit lets a running tool finish on barge-in, so the gate must decline to run, not just delay.</a:t>
            </a:r>
          </a:p>
          <a:p>
            <a:pPr marL="285750" indent="-285750">
              <a:spcAft>
                <a:spcPts val="900"/>
              </a:spcAft>
              <a:buClr>
                <a:srgbClr val="704EA6"/>
              </a:buClr>
              <a:buFont typeface="Arial"/>
              <a:buChar char="•"/>
            </a:pPr>
            <a:r>
              <a:rPr lang="en-US" sz="2000" b="1">
                <a:solidFill>
                  <a:srgbClr val="333333"/>
                </a:solidFill>
                <a:latin typeface="Calibri"/>
              </a:rPr>
              <a:t>Results: </a:t>
            </a:r>
            <a:r>
              <a:rPr lang="en-US" sz="2000" b="0">
                <a:solidFill>
                  <a:srgbClr val="333333"/>
                </a:solidFill>
                <a:latin typeface="Calibri"/>
              </a:rPr>
              <a:t>offline unit tests for gate, ledger and correction detector; end-to-end FDB-v3 scores pending a full run.</a:t>
            </a:r>
          </a:p>
          <a:p>
            <a:pPr marL="285750" indent="-285750">
              <a:spcAft>
                <a:spcPts val="900"/>
              </a:spcAft>
              <a:buClr>
                <a:srgbClr val="704EA6"/>
              </a:buClr>
              <a:buFont typeface="Arial"/>
              <a:buChar char="•"/>
            </a:pPr>
            <a:r>
              <a:rPr lang="en-US" sz="2000" b="1">
                <a:solidFill>
                  <a:srgbClr val="333333"/>
                </a:solidFill>
                <a:latin typeface="Calibri"/>
              </a:rPr>
              <a:t>Limitations: </a:t>
            </a:r>
            <a:r>
              <a:rPr lang="en-US" sz="2000" b="0">
                <a:solidFill>
                  <a:srgbClr val="333333"/>
                </a:solidFill>
                <a:latin typeface="Calibri"/>
              </a:rPr>
              <a:t>realtime APIs are non-deterministic, so we report mean and variance over multiple runs; no seed control.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4EA6"/>
              </a:buClr>
              <a:buSzPts val="4400"/>
              <a:buFont typeface="Calibri"/>
              <a:buNone/>
            </a:pPr>
            <a:r>
              <a:rPr lang="en-US" sz="4400" b="1">
                <a:solidFill>
                  <a:srgbClr val="704EA6"/>
                </a:solidFill>
                <a:latin typeface="Calibri"/>
                <a:ea typeface="Calibri"/>
                <a:cs typeface="Calibri"/>
                <a:sym typeface="Calibri"/>
              </a:rPr>
              <a:t>What’s next</a:t>
            </a:r>
            <a:endParaRPr sz="4400" b="1">
              <a:solidFill>
                <a:srgbClr val="704EA6"/>
              </a:solidFill>
            </a:endParaRPr>
          </a:p>
        </p:txBody>
      </p:sp>
      <p:sp>
        <p:nvSpPr>
          <p:cNvPr id="144" name="Google Shape;144;p9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85750" indent="-285750">
              <a:spcAft>
                <a:spcPts val="900"/>
              </a:spcAft>
              <a:buClr>
                <a:srgbClr val="704EA6"/>
              </a:buClr>
              <a:buFont typeface="Arial"/>
              <a:buChar char="•"/>
            </a:pPr>
            <a:r>
              <a:rPr lang="en-US" sz="2000" b="1">
                <a:solidFill>
                  <a:srgbClr val="333333"/>
                </a:solidFill>
                <a:latin typeface="Calibri"/>
              </a:rPr>
              <a:t>Full benchmark runs: </a:t>
            </a:r>
            <a:r>
              <a:rPr lang="en-US" sz="2000" b="0">
                <a:solidFill>
                  <a:srgbClr val="333333"/>
                </a:solidFill>
                <a:latin typeface="Calibri"/>
              </a:rPr>
              <a:t>several runs on FDB-v3, report mean and variance.</a:t>
            </a:r>
          </a:p>
          <a:p>
            <a:pPr marL="285750" indent="-285750">
              <a:spcAft>
                <a:spcPts val="900"/>
              </a:spcAft>
              <a:buClr>
                <a:srgbClr val="704EA6"/>
              </a:buClr>
              <a:buFont typeface="Arial"/>
              <a:buChar char="•"/>
            </a:pPr>
            <a:r>
              <a:rPr lang="en-US" sz="2000" b="1">
                <a:solidFill>
                  <a:srgbClr val="333333"/>
                </a:solidFill>
                <a:latin typeface="Calibri"/>
              </a:rPr>
              <a:t>Dev set: </a:t>
            </a:r>
            <a:r>
              <a:rPr lang="en-US" sz="2000" b="0">
                <a:solidFill>
                  <a:srgbClr val="333333"/>
                </a:solidFill>
                <a:latin typeface="Calibri"/>
              </a:rPr>
              <a:t>expand our own disfluent-request set across the four domains.</a:t>
            </a:r>
          </a:p>
          <a:p>
            <a:pPr marL="285750" indent="-285750">
              <a:spcAft>
                <a:spcPts val="900"/>
              </a:spcAft>
              <a:buClr>
                <a:srgbClr val="704EA6"/>
              </a:buClr>
              <a:buFont typeface="Arial"/>
              <a:buChar char="•"/>
            </a:pPr>
            <a:r>
              <a:rPr lang="en-US" sz="2000" b="1">
                <a:solidFill>
                  <a:srgbClr val="333333"/>
                </a:solidFill>
                <a:latin typeface="Calibri"/>
              </a:rPr>
              <a:t>Multimodal: </a:t>
            </a:r>
            <a:r>
              <a:rPr lang="en-US" sz="2000" b="0">
                <a:solidFill>
                  <a:srgbClr val="333333"/>
                </a:solidFill>
                <a:latin typeface="Calibri"/>
              </a:rPr>
              <a:t>audio and camera-frame grounding for troubleshooting.</a:t>
            </a:r>
          </a:p>
          <a:p>
            <a:pPr marL="285750" indent="-285750">
              <a:spcAft>
                <a:spcPts val="900"/>
              </a:spcAft>
              <a:buClr>
                <a:srgbClr val="704EA6"/>
              </a:buClr>
              <a:buFont typeface="Arial"/>
              <a:buChar char="•"/>
            </a:pPr>
            <a:r>
              <a:rPr lang="en-US" sz="2000" b="1">
                <a:solidFill>
                  <a:srgbClr val="333333"/>
                </a:solidFill>
                <a:latin typeface="Calibri"/>
              </a:rPr>
              <a:t>Latency: </a:t>
            </a:r>
            <a:r>
              <a:rPr lang="en-US" sz="2000" b="0">
                <a:solidFill>
                  <a:srgbClr val="333333"/>
                </a:solidFill>
                <a:latin typeface="Calibri"/>
              </a:rPr>
              <a:t>tune grace windows per tool type.</a:t>
            </a:r>
          </a:p>
          <a:p>
            <a:pPr marL="285750" indent="-285750">
              <a:spcAft>
                <a:spcPts val="900"/>
              </a:spcAft>
              <a:buClr>
                <a:srgbClr val="704EA6"/>
              </a:buClr>
              <a:buFont typeface="Arial"/>
              <a:buChar char="•"/>
            </a:pPr>
            <a:r>
              <a:rPr lang="en-US" sz="2000" b="1">
                <a:solidFill>
                  <a:srgbClr val="333333"/>
                </a:solidFill>
                <a:latin typeface="Calibri"/>
              </a:rPr>
              <a:t>Extend: </a:t>
            </a:r>
            <a:r>
              <a:rPr lang="en-US" sz="2000" b="0">
                <a:solidFill>
                  <a:srgbClr val="333333"/>
                </a:solidFill>
                <a:latin typeface="Calibri"/>
              </a:rPr>
              <a:t>more in-car and support scenarios.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4EA6"/>
              </a:buClr>
              <a:buSzPts val="4400"/>
              <a:buFont typeface="Calibri"/>
              <a:buNone/>
            </a:pPr>
            <a:r>
              <a:rPr lang="en-US" sz="4400" b="1">
                <a:solidFill>
                  <a:srgbClr val="704EA6"/>
                </a:solidFill>
                <a:latin typeface="Calibri"/>
                <a:ea typeface="Calibri"/>
                <a:cs typeface="Calibri"/>
                <a:sym typeface="Calibri"/>
              </a:rPr>
              <a:t>Brownie points slide( differentiation)</a:t>
            </a:r>
            <a:endParaRPr sz="4400" b="1">
              <a:solidFill>
                <a:srgbClr val="704EA6"/>
              </a:solidFill>
            </a:endParaRPr>
          </a:p>
        </p:txBody>
      </p:sp>
      <p:sp>
        <p:nvSpPr>
          <p:cNvPr id="150" name="Google Shape;150;p1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85750" indent="-285750">
              <a:spcAft>
                <a:spcPts val="900"/>
              </a:spcAft>
              <a:buClr>
                <a:srgbClr val="704EA6"/>
              </a:buClr>
              <a:buFont typeface="Arial"/>
              <a:buChar char="•"/>
            </a:pPr>
            <a:r>
              <a:rPr lang="en-US" sz="2000" b="1">
                <a:solidFill>
                  <a:srgbClr val="333333"/>
                </a:solidFill>
                <a:latin typeface="Calibri"/>
              </a:rPr>
              <a:t>Benchmark-grounded design: </a:t>
            </a:r>
            <a:r>
              <a:rPr lang="en-US" sz="2000" b="0">
                <a:solidFill>
                  <a:srgbClr val="333333"/>
                </a:solidFill>
                <a:latin typeface="Calibri"/>
              </a:rPr>
              <a:t>built from the measured failure modes of FDB-v3 baselines.</a:t>
            </a:r>
          </a:p>
          <a:p>
            <a:pPr marL="285750" indent="-285750">
              <a:spcAft>
                <a:spcPts val="900"/>
              </a:spcAft>
              <a:buClr>
                <a:srgbClr val="704EA6"/>
              </a:buClr>
              <a:buFont typeface="Arial"/>
              <a:buChar char="•"/>
            </a:pPr>
            <a:r>
              <a:rPr lang="en-US" sz="2000" b="1">
                <a:solidFill>
                  <a:srgbClr val="333333"/>
                </a:solidFill>
                <a:latin typeface="Calibri"/>
              </a:rPr>
              <a:t>Idempotency ledger: </a:t>
            </a:r>
            <a:r>
              <a:rPr lang="en-US" sz="2000" b="0">
                <a:solidFill>
                  <a:srgbClr val="333333"/>
                </a:solidFill>
                <a:latin typeface="Calibri"/>
              </a:rPr>
              <a:t>protects against double actions.</a:t>
            </a:r>
          </a:p>
          <a:p>
            <a:pPr marL="285750" indent="-285750">
              <a:spcAft>
                <a:spcPts val="900"/>
              </a:spcAft>
              <a:buClr>
                <a:srgbClr val="704EA6"/>
              </a:buClr>
              <a:buFont typeface="Arial"/>
              <a:buChar char="•"/>
            </a:pPr>
            <a:r>
              <a:rPr lang="en-US" sz="2000" b="1">
                <a:solidFill>
                  <a:srgbClr val="333333"/>
                </a:solidFill>
                <a:latin typeface="Calibri"/>
              </a:rPr>
              <a:t>Reproducible: </a:t>
            </a:r>
            <a:r>
              <a:rPr lang="en-US" sz="2000" b="0">
                <a:solidFill>
                  <a:srgbClr val="333333"/>
                </a:solidFill>
                <a:latin typeface="Calibri"/>
              </a:rPr>
              <a:t>pinned versions, one-command script.</a:t>
            </a:r>
          </a:p>
          <a:p>
            <a:pPr marL="285750" indent="-285750">
              <a:spcAft>
                <a:spcPts val="900"/>
              </a:spcAft>
              <a:buClr>
                <a:srgbClr val="704EA6"/>
              </a:buClr>
              <a:buFont typeface="Arial"/>
              <a:buChar char="•"/>
            </a:pPr>
            <a:r>
              <a:rPr lang="en-US" sz="2000" b="1">
                <a:solidFill>
                  <a:srgbClr val="333333"/>
                </a:solidFill>
                <a:latin typeface="Calibri"/>
              </a:rPr>
              <a:t>Honest evaluation: </a:t>
            </a:r>
            <a:r>
              <a:rPr lang="en-US" sz="2000" b="0">
                <a:solidFill>
                  <a:srgbClr val="333333"/>
                </a:solidFill>
                <a:latin typeface="Calibri"/>
              </a:rPr>
              <a:t>private dev set so we do not tune to public test items.</a:t>
            </a:r>
          </a:p>
          <a:p>
            <a:pPr marL="285750" indent="-285750">
              <a:spcAft>
                <a:spcPts val="900"/>
              </a:spcAft>
              <a:buClr>
                <a:srgbClr val="704EA6"/>
              </a:buClr>
              <a:buFont typeface="Arial"/>
              <a:buChar char="•"/>
            </a:pPr>
            <a:r>
              <a:rPr lang="en-US" sz="2000" b="1">
                <a:solidFill>
                  <a:srgbClr val="333333"/>
                </a:solidFill>
                <a:latin typeface="Calibri"/>
              </a:rPr>
              <a:t>Beyond the benchmark: </a:t>
            </a:r>
            <a:r>
              <a:rPr lang="en-US" sz="2000" b="0">
                <a:solidFill>
                  <a:srgbClr val="333333"/>
                </a:solidFill>
                <a:latin typeface="Calibri"/>
              </a:rPr>
              <a:t>in-car destination-change demo on the same control layer.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4EA6"/>
              </a:buClr>
              <a:buSzPts val="4400"/>
              <a:buFont typeface="Calibri"/>
              <a:buNone/>
            </a:pPr>
            <a:r>
              <a:rPr lang="en-US" b="1">
                <a:solidFill>
                  <a:srgbClr val="704EA6"/>
                </a:solidFill>
                <a:latin typeface="Calibri"/>
                <a:ea typeface="Calibri"/>
                <a:cs typeface="Calibri"/>
                <a:sym typeface="Calibri"/>
              </a:rPr>
              <a:t>Checklist- Updated on Public GitHub</a:t>
            </a:r>
            <a:endParaRPr/>
          </a:p>
        </p:txBody>
      </p:sp>
      <p:sp>
        <p:nvSpPr>
          <p:cNvPr id="156" name="Google Shape;156;p1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77800" lvl="0" indent="-177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3637E"/>
              </a:buClr>
              <a:buSzPts val="2800"/>
              <a:buChar char="•"/>
            </a:pPr>
            <a:r>
              <a:rPr lang="en-US" sz="2800" dirty="0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Working prototype code — public or shared GitHub repo - Y</a:t>
            </a:r>
            <a:endParaRPr sz="2800" dirty="0"/>
          </a:p>
          <a:p>
            <a:pPr marL="177800" lvl="0" indent="-1778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rgbClr val="63637E"/>
              </a:buClr>
              <a:buSzPts val="2800"/>
              <a:buChar char="•"/>
            </a:pPr>
            <a:r>
              <a:rPr lang="en-US" sz="2800" dirty="0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README with reproducible setup instructions - Y</a:t>
            </a:r>
            <a:endParaRPr lang="en-US" sz="2800" dirty="0"/>
          </a:p>
          <a:p>
            <a:pPr marL="177800" lvl="0" indent="-1778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rgbClr val="63637E"/>
              </a:buClr>
              <a:buSzPts val="2800"/>
              <a:buChar char="•"/>
            </a:pPr>
            <a:r>
              <a:rPr lang="en-US" sz="2800" dirty="0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Demo video, max 5 minutes - </a:t>
            </a:r>
            <a:r>
              <a:rPr lang="en-US" dirty="0">
                <a:solidFill>
                  <a:srgbClr val="63637E"/>
                </a:solidFill>
              </a:rPr>
              <a:t>Y</a:t>
            </a:r>
            <a:endParaRPr sz="2800" dirty="0"/>
          </a:p>
          <a:p>
            <a:pPr marL="177800" lvl="0" indent="-1778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rgbClr val="63637E"/>
              </a:buClr>
              <a:buSzPts val="2800"/>
              <a:buChar char="•"/>
            </a:pPr>
            <a:r>
              <a:rPr lang="en-US" sz="2800" dirty="0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Presentation file (PPT or PDF) - Y</a:t>
            </a:r>
            <a:endParaRPr sz="2800" dirty="0"/>
          </a:p>
          <a:p>
            <a:pPr marL="0" lvl="0" indent="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2"/>
          <p:cNvSpPr txBox="1"/>
          <p:nvPr/>
        </p:nvSpPr>
        <p:spPr>
          <a:xfrm>
            <a:off x="1046181" y="3730214"/>
            <a:ext cx="6766560" cy="86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4142B"/>
              </a:buClr>
              <a:buSzPts val="4600"/>
              <a:buFont typeface="Arial"/>
              <a:buNone/>
            </a:pPr>
            <a:r>
              <a:rPr lang="en-US" sz="4600" b="1" i="0" u="none" strike="noStrike" cap="none">
                <a:solidFill>
                  <a:srgbClr val="14142B"/>
                </a:solidFill>
                <a:latin typeface="Arial"/>
                <a:ea typeface="Arial"/>
                <a:cs typeface="Arial"/>
                <a:sym typeface="Arial"/>
              </a:rPr>
              <a:t>Thank you</a:t>
            </a:r>
            <a:endParaRPr sz="4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12"/>
          <p:cNvSpPr txBox="1"/>
          <p:nvPr/>
        </p:nvSpPr>
        <p:spPr>
          <a:xfrm>
            <a:off x="777240" y="5897880"/>
            <a:ext cx="1060704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3637E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Organised by the Language AI Team and the PRISM Team, Samsung R&amp;D Institute India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941</Words>
  <Application>Microsoft Office PowerPoint</Application>
  <PresentationFormat>Widescreen</PresentationFormat>
  <Paragraphs>79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PowerPoint Presentation</vt:lpstr>
      <vt:lpstr>Theme</vt:lpstr>
      <vt:lpstr>Existing Solutions &amp; Gaps</vt:lpstr>
      <vt:lpstr>Our Solutions &amp; Architecture Diagram</vt:lpstr>
      <vt:lpstr>Demo &amp; Product Walkthrough</vt:lpstr>
      <vt:lpstr>Tools and tech stack used</vt:lpstr>
      <vt:lpstr>Impact &amp; Use case</vt:lpstr>
      <vt:lpstr>Innovation highlights, results and limitations</vt:lpstr>
      <vt:lpstr>What’s next</vt:lpstr>
      <vt:lpstr>Brownie points slide( differentiation)</vt:lpstr>
      <vt:lpstr>Checklist- Updated on Public GitHub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Binny Lakra/PRISM /SRI-Bangalore/Professional/Samsung Electronics</dc:creator>
  <cp:lastModifiedBy>Himanish Srivastava</cp:lastModifiedBy>
  <cp:revision>2</cp:revision>
  <dcterms:created xsi:type="dcterms:W3CDTF">2026-09-07T12:01:01Z</dcterms:created>
  <dcterms:modified xsi:type="dcterms:W3CDTF">2026-09-30T17:10:28Z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SCPROP">
    <vt:lpwstr>NSCCustomProperty</vt:lpwstr>
  </property>
</Properties>
</file>